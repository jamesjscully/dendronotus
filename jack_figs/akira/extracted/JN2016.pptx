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80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2059" y="8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9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1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7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8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6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7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1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9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4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B12E1-A6E7-4D21-98FC-B65ECA9C98C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B1A28-4AFD-429D-898E-C5FF41C0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image" Target="../media/image1.wmf"/><Relationship Id="rId21" Type="http://schemas.openxmlformats.org/officeDocument/2006/relationships/image" Target="../media/image17.png"/><Relationship Id="rId7" Type="http://schemas.openxmlformats.org/officeDocument/2006/relationships/image" Target="../media/image3.emf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5" Type="http://schemas.openxmlformats.org/officeDocument/2006/relationships/image" Target="../media/image2.emf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40.png"/><Relationship Id="rId26" Type="http://schemas.openxmlformats.org/officeDocument/2006/relationships/image" Target="../media/image47.png"/><Relationship Id="rId39" Type="http://schemas.openxmlformats.org/officeDocument/2006/relationships/image" Target="../media/image58.emf"/><Relationship Id="rId21" Type="http://schemas.openxmlformats.org/officeDocument/2006/relationships/image" Target="../media/image43.png"/><Relationship Id="rId34" Type="http://schemas.openxmlformats.org/officeDocument/2006/relationships/image" Target="../media/image54.png"/><Relationship Id="rId7" Type="http://schemas.openxmlformats.org/officeDocument/2006/relationships/image" Target="../media/image30.emf"/><Relationship Id="rId2" Type="http://schemas.openxmlformats.org/officeDocument/2006/relationships/oleObject" Target="../embeddings/oleObject4.bin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0.png"/><Relationship Id="rId41" Type="http://schemas.openxmlformats.org/officeDocument/2006/relationships/image" Target="../media/image5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4.png"/><Relationship Id="rId24" Type="http://schemas.openxmlformats.org/officeDocument/2006/relationships/image" Target="../media/image45.png"/><Relationship Id="rId32" Type="http://schemas.openxmlformats.org/officeDocument/2006/relationships/image" Target="../media/image52.png"/><Relationship Id="rId37" Type="http://schemas.openxmlformats.org/officeDocument/2006/relationships/image" Target="../media/image57.png"/><Relationship Id="rId40" Type="http://schemas.openxmlformats.org/officeDocument/2006/relationships/oleObject" Target="../embeddings/oleObject11.bin"/><Relationship Id="rId5" Type="http://schemas.openxmlformats.org/officeDocument/2006/relationships/image" Target="../media/image29.emf"/><Relationship Id="rId15" Type="http://schemas.openxmlformats.org/officeDocument/2006/relationships/image" Target="../media/image37.emf"/><Relationship Id="rId23" Type="http://schemas.openxmlformats.org/officeDocument/2006/relationships/image" Target="../media/image44.emf"/><Relationship Id="rId28" Type="http://schemas.openxmlformats.org/officeDocument/2006/relationships/image" Target="../media/image49.png"/><Relationship Id="rId36" Type="http://schemas.openxmlformats.org/officeDocument/2006/relationships/image" Target="../media/image56.png"/><Relationship Id="rId10" Type="http://schemas.openxmlformats.org/officeDocument/2006/relationships/image" Target="../media/image33.png"/><Relationship Id="rId19" Type="http://schemas.openxmlformats.org/officeDocument/2006/relationships/image" Target="../media/image41.png"/><Relationship Id="rId31" Type="http://schemas.openxmlformats.org/officeDocument/2006/relationships/image" Target="../media/image5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2.png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8.bin"/><Relationship Id="rId27" Type="http://schemas.openxmlformats.org/officeDocument/2006/relationships/image" Target="../media/image48.png"/><Relationship Id="rId30" Type="http://schemas.openxmlformats.org/officeDocument/2006/relationships/oleObject" Target="../embeddings/oleObject9.bin"/><Relationship Id="rId35" Type="http://schemas.openxmlformats.org/officeDocument/2006/relationships/image" Target="../media/image55.png"/><Relationship Id="rId8" Type="http://schemas.openxmlformats.org/officeDocument/2006/relationships/image" Target="../media/image31.png"/><Relationship Id="rId3" Type="http://schemas.openxmlformats.org/officeDocument/2006/relationships/image" Target="../media/image28.emf"/><Relationship Id="rId12" Type="http://schemas.openxmlformats.org/officeDocument/2006/relationships/image" Target="../media/image35.png"/><Relationship Id="rId17" Type="http://schemas.openxmlformats.org/officeDocument/2006/relationships/image" Target="../media/image39.png"/><Relationship Id="rId25" Type="http://schemas.openxmlformats.org/officeDocument/2006/relationships/image" Target="../media/image46.png"/><Relationship Id="rId33" Type="http://schemas.openxmlformats.org/officeDocument/2006/relationships/image" Target="../media/image53.png"/><Relationship Id="rId38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2266172" y="6686217"/>
            <a:ext cx="2851150" cy="1477630"/>
            <a:chOff x="2429387" y="7079952"/>
            <a:chExt cx="2851150" cy="1477630"/>
          </a:xfrm>
        </p:grpSpPr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2429387" y="7079952"/>
            <a:ext cx="2851150" cy="1282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SPW 12.0 Graph" r:id="rId2" imgW="2850840" imgH="1281960" progId="SigmaPlotGraphicObject.11">
                    <p:embed/>
                  </p:oleObj>
                </mc:Choice>
                <mc:Fallback>
                  <p:oleObj name="SPW 12.0 Graph" r:id="rId2" imgW="2850840" imgH="1281960" progId="SigmaPlotGraphicObject.11">
                    <p:embed/>
                    <p:pic>
                      <p:nvPicPr>
                        <p:cNvPr id="10" name="Object 9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429387" y="7079952"/>
                          <a:ext cx="2851150" cy="1282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" name="TextBox 85"/>
            <p:cNvSpPr txBox="1"/>
            <p:nvPr/>
          </p:nvSpPr>
          <p:spPr>
            <a:xfrm>
              <a:off x="2816429" y="8049751"/>
              <a:ext cx="540533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One</a:t>
              </a:r>
            </a:p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Si2</a:t>
              </a:r>
            </a:p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(N=13)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304233" y="8049751"/>
              <a:ext cx="47641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Both</a:t>
              </a:r>
            </a:p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Si2s</a:t>
              </a:r>
            </a:p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(N=8)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960743" y="8049751"/>
              <a:ext cx="540533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One</a:t>
              </a:r>
            </a:p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Si3</a:t>
              </a:r>
            </a:p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(N=10)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467235" y="8049751"/>
              <a:ext cx="476413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Both</a:t>
              </a:r>
            </a:p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Si3s</a:t>
              </a:r>
            </a:p>
            <a:p>
              <a:pPr algn="ctr"/>
              <a:r>
                <a:rPr lang="en-US" sz="900" dirty="0">
                  <a:solidFill>
                    <a:prstClr val="black"/>
                  </a:solidFill>
                </a:rPr>
                <a:t>(N=5)</a:t>
              </a:r>
            </a:p>
          </p:txBody>
        </p:sp>
      </p:grp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232831" y="5054600"/>
          <a:ext cx="1524000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4" imgW="1524117" imgH="1257261" progId="SigmaPlotGraphicObject.11">
                  <p:embed/>
                </p:oleObj>
              </mc:Choice>
              <mc:Fallback>
                <p:oleObj name="SPW 12.0 Graph" r:id="rId4" imgW="1524117" imgH="1257261" progId="SigmaPlotGraphicObject.11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32831" y="5054600"/>
                        <a:ext cx="1524000" cy="1262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651843" y="5054565"/>
          <a:ext cx="171608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6" imgW="1714368" imgH="1257261" progId="SigmaPlotGraphicObject.11">
                  <p:embed/>
                </p:oleObj>
              </mc:Choice>
              <mc:Fallback>
                <p:oleObj name="SPW 12.0 Graph" r:id="rId6" imgW="1714368" imgH="1257261" progId="SigmaPlotGraphicObject.11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51843" y="5054565"/>
                        <a:ext cx="1716088" cy="1262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Box 55"/>
          <p:cNvSpPr txBox="1"/>
          <p:nvPr/>
        </p:nvSpPr>
        <p:spPr>
          <a:xfrm rot="16200000">
            <a:off x="1710728" y="5475822"/>
            <a:ext cx="93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% changes in burst freq.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18841" y="6292482"/>
            <a:ext cx="1550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% change in Si2 spike 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-964725" y="339953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130917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964725" y="1023723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150413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88385" y="499878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D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8"/>
          <a:srcRect l="-1" r="303"/>
          <a:stretch/>
        </p:blipFill>
        <p:spPr>
          <a:xfrm>
            <a:off x="2393340" y="1331369"/>
            <a:ext cx="1295294" cy="18653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/>
          <a:srcRect l="-1" r="-299"/>
          <a:stretch/>
        </p:blipFill>
        <p:spPr>
          <a:xfrm>
            <a:off x="2393340" y="1588223"/>
            <a:ext cx="1295294" cy="18653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0"/>
          <a:srcRect l="-1" r="303"/>
          <a:stretch/>
        </p:blipFill>
        <p:spPr>
          <a:xfrm>
            <a:off x="2393340" y="2090410"/>
            <a:ext cx="1295294" cy="18653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1"/>
          <a:srcRect l="-1" r="-299"/>
          <a:stretch/>
        </p:blipFill>
        <p:spPr>
          <a:xfrm>
            <a:off x="2393340" y="1832398"/>
            <a:ext cx="1295294" cy="18653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14700" y="2299329"/>
            <a:ext cx="165430" cy="91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12041" y="2261949"/>
            <a:ext cx="386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</a:rPr>
              <a:t>5 sec</a:t>
            </a:r>
          </a:p>
        </p:txBody>
      </p:sp>
      <p:pic>
        <p:nvPicPr>
          <p:cNvPr id="94220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31" y="1344580"/>
            <a:ext cx="1300765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21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31" y="1588297"/>
            <a:ext cx="1300765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23" name="Picture 1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31" y="1851890"/>
            <a:ext cx="1300765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24" name="Picture 1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31" y="2107630"/>
            <a:ext cx="1300765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93340" y="2928350"/>
            <a:ext cx="1300774" cy="184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93340" y="2629216"/>
            <a:ext cx="1300774" cy="3032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93340" y="3450460"/>
            <a:ext cx="1300774" cy="1579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93340" y="3195062"/>
            <a:ext cx="1300774" cy="157958"/>
          </a:xfrm>
          <a:prstGeom prst="rect">
            <a:avLst/>
          </a:prstGeom>
        </p:spPr>
      </p:pic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31" y="2649918"/>
            <a:ext cx="130076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3" name="Picture 5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31" y="2923319"/>
            <a:ext cx="130076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4" name="Picture 6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31" y="3196720"/>
            <a:ext cx="130076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6" name="Picture 8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31" y="3433674"/>
            <a:ext cx="130076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Straight Arrow Connector 21"/>
          <p:cNvCxnSpPr/>
          <p:nvPr/>
        </p:nvCxnSpPr>
        <p:spPr>
          <a:xfrm>
            <a:off x="4493293" y="3631064"/>
            <a:ext cx="0" cy="115787"/>
          </a:xfrm>
          <a:prstGeom prst="straightConnector1">
            <a:avLst/>
          </a:prstGeom>
          <a:ln w="12700">
            <a:solidFill>
              <a:schemeClr val="tx1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56240" y="3584486"/>
            <a:ext cx="386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</a:rPr>
              <a:t>-4 </a:t>
            </a:r>
            <a:r>
              <a:rPr lang="en-US" sz="800" dirty="0" err="1">
                <a:solidFill>
                  <a:prstClr val="black"/>
                </a:solidFill>
              </a:rPr>
              <a:t>nA</a:t>
            </a:r>
            <a:endParaRPr lang="en-US" sz="800" dirty="0">
              <a:solidFill>
                <a:prstClr val="black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4493987" y="2303370"/>
            <a:ext cx="0" cy="115787"/>
          </a:xfrm>
          <a:prstGeom prst="straightConnector1">
            <a:avLst/>
          </a:prstGeom>
          <a:ln w="12700">
            <a:solidFill>
              <a:schemeClr val="tx1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62258" y="2268941"/>
            <a:ext cx="3819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</a:rPr>
              <a:t> 4 </a:t>
            </a:r>
            <a:r>
              <a:rPr lang="en-US" sz="800" dirty="0" err="1">
                <a:solidFill>
                  <a:prstClr val="black"/>
                </a:solidFill>
              </a:rPr>
              <a:t>nA</a:t>
            </a:r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98236" y="2057515"/>
            <a:ext cx="432131" cy="194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800" dirty="0">
                <a:solidFill>
                  <a:prstClr val="black"/>
                </a:solidFill>
              </a:rPr>
              <a:t>50 mV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3040548" y="2504563"/>
            <a:ext cx="0" cy="115787"/>
          </a:xfrm>
          <a:prstGeom prst="straightConnector1">
            <a:avLst/>
          </a:prstGeom>
          <a:ln w="12700">
            <a:solidFill>
              <a:schemeClr val="tx1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011278" y="2477407"/>
            <a:ext cx="386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</a:rPr>
              <a:t>-4 </a:t>
            </a:r>
            <a:r>
              <a:rPr lang="en-US" sz="800" dirty="0" err="1">
                <a:solidFill>
                  <a:prstClr val="black"/>
                </a:solidFill>
              </a:rPr>
              <a:t>nA</a:t>
            </a:r>
            <a:endParaRPr lang="en-US" sz="800" dirty="0">
              <a:solidFill>
                <a:prstClr val="black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3042196" y="1181313"/>
            <a:ext cx="0" cy="115787"/>
          </a:xfrm>
          <a:prstGeom prst="straightConnector1">
            <a:avLst/>
          </a:prstGeom>
          <a:ln w="12700">
            <a:solidFill>
              <a:schemeClr val="tx1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88160" y="1138411"/>
            <a:ext cx="3819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</a:rPr>
              <a:t> 4 </a:t>
            </a:r>
            <a:r>
              <a:rPr lang="en-US" sz="800" dirty="0" err="1">
                <a:solidFill>
                  <a:prstClr val="black"/>
                </a:solidFill>
              </a:rPr>
              <a:t>nA</a:t>
            </a:r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103886" y="2384445"/>
            <a:ext cx="264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03886" y="3667271"/>
            <a:ext cx="264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20169" y="3687105"/>
            <a:ext cx="272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464" y="2592803"/>
            <a:ext cx="4063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L-Si2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02856" y="2902667"/>
            <a:ext cx="4235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R-Si2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11464" y="3153858"/>
            <a:ext cx="4063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L-Si3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02856" y="3408868"/>
            <a:ext cx="4235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R-Si3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460" y="1290563"/>
            <a:ext cx="4063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L-Si2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02855" y="1551755"/>
            <a:ext cx="4235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R-Si2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11463" y="1805695"/>
            <a:ext cx="4063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L-Si3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02855" y="2052317"/>
            <a:ext cx="4235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R-Si3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8348" y="2108472"/>
            <a:ext cx="8184" cy="84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975584" y="2299329"/>
            <a:ext cx="165430" cy="91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872924" y="2261949"/>
            <a:ext cx="386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</a:rPr>
              <a:t>5 sec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65138" y="1562162"/>
            <a:ext cx="432131" cy="194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800" dirty="0">
                <a:solidFill>
                  <a:prstClr val="black"/>
                </a:solidFill>
              </a:rPr>
              <a:t>50 mV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25250" y="1613119"/>
            <a:ext cx="8184" cy="84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103886" y="1099706"/>
            <a:ext cx="264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20169" y="2384445"/>
            <a:ext cx="249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20169" y="1099706"/>
            <a:ext cx="257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E</a:t>
            </a:r>
          </a:p>
        </p:txBody>
      </p:sp>
      <p:pic>
        <p:nvPicPr>
          <p:cNvPr id="80" name="Picture 79"/>
          <p:cNvPicPr>
            <a:picLocks/>
          </p:cNvPicPr>
          <p:nvPr/>
        </p:nvPicPr>
        <p:blipFill>
          <a:blip r:embed="rId24"/>
          <a:stretch>
            <a:fillRect/>
          </a:stretch>
        </p:blipFill>
        <p:spPr>
          <a:xfrm>
            <a:off x="2396386" y="3951888"/>
            <a:ext cx="1292249" cy="227887"/>
          </a:xfrm>
          <a:prstGeom prst="rect">
            <a:avLst/>
          </a:prstGeom>
        </p:spPr>
      </p:pic>
      <p:pic>
        <p:nvPicPr>
          <p:cNvPr id="81" name="Picture 80"/>
          <p:cNvPicPr>
            <a:picLocks/>
          </p:cNvPicPr>
          <p:nvPr/>
        </p:nvPicPr>
        <p:blipFill>
          <a:blip r:embed="rId25"/>
          <a:stretch>
            <a:fillRect/>
          </a:stretch>
        </p:blipFill>
        <p:spPr>
          <a:xfrm>
            <a:off x="2396386" y="4214209"/>
            <a:ext cx="1292249" cy="206456"/>
          </a:xfrm>
          <a:prstGeom prst="rect">
            <a:avLst/>
          </a:prstGeom>
        </p:spPr>
      </p:pic>
      <p:pic>
        <p:nvPicPr>
          <p:cNvPr id="82" name="Picture 81"/>
          <p:cNvPicPr>
            <a:picLocks/>
          </p:cNvPicPr>
          <p:nvPr/>
        </p:nvPicPr>
        <p:blipFill>
          <a:blip r:embed="rId26"/>
          <a:stretch>
            <a:fillRect/>
          </a:stretch>
        </p:blipFill>
        <p:spPr>
          <a:xfrm>
            <a:off x="2396386" y="4477020"/>
            <a:ext cx="1292249" cy="129303"/>
          </a:xfrm>
          <a:prstGeom prst="rect">
            <a:avLst/>
          </a:prstGeom>
        </p:spPr>
      </p:pic>
      <p:pic>
        <p:nvPicPr>
          <p:cNvPr id="83" name="Picture 82"/>
          <p:cNvPicPr>
            <a:picLocks/>
          </p:cNvPicPr>
          <p:nvPr/>
        </p:nvPicPr>
        <p:blipFill>
          <a:blip r:embed="rId27"/>
          <a:stretch>
            <a:fillRect/>
          </a:stretch>
        </p:blipFill>
        <p:spPr>
          <a:xfrm>
            <a:off x="2396386" y="4679408"/>
            <a:ext cx="1292249" cy="129303"/>
          </a:xfrm>
          <a:prstGeom prst="rect">
            <a:avLst/>
          </a:prstGeom>
        </p:spPr>
      </p:pic>
      <p:cxnSp>
        <p:nvCxnSpPr>
          <p:cNvPr id="88" name="Straight Arrow Connector 87"/>
          <p:cNvCxnSpPr/>
          <p:nvPr/>
        </p:nvCxnSpPr>
        <p:spPr>
          <a:xfrm>
            <a:off x="2909461" y="3831405"/>
            <a:ext cx="0" cy="119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2910978" y="4181026"/>
            <a:ext cx="0" cy="119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2868637" y="3820934"/>
            <a:ext cx="386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  <a:cs typeface="Arial" panose="020B0604020202020204" pitchFamily="34" charset="0"/>
              </a:rPr>
              <a:t>-4 </a:t>
            </a:r>
            <a:r>
              <a:rPr lang="en-US" sz="800" dirty="0" err="1">
                <a:solidFill>
                  <a:prstClr val="black"/>
                </a:solidFill>
                <a:cs typeface="Arial" panose="020B0604020202020204" pitchFamily="34" charset="0"/>
              </a:rPr>
              <a:t>nA</a:t>
            </a:r>
            <a:endParaRPr lang="en-US" sz="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011464" y="3874600"/>
            <a:ext cx="4063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L-Si2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02855" y="4163703"/>
            <a:ext cx="4235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R-Si2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11464" y="4417643"/>
            <a:ext cx="4063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L-Si3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02855" y="4632403"/>
            <a:ext cx="4235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R-Si3</a:t>
            </a:r>
          </a:p>
        </p:txBody>
      </p:sp>
      <p:pic>
        <p:nvPicPr>
          <p:cNvPr id="97" name="Picture 96"/>
          <p:cNvPicPr>
            <a:picLocks/>
          </p:cNvPicPr>
          <p:nvPr/>
        </p:nvPicPr>
        <p:blipFill>
          <a:blip r:embed="rId28"/>
          <a:stretch>
            <a:fillRect/>
          </a:stretch>
        </p:blipFill>
        <p:spPr>
          <a:xfrm>
            <a:off x="3841260" y="3946774"/>
            <a:ext cx="1292959" cy="160736"/>
          </a:xfrm>
          <a:prstGeom prst="rect">
            <a:avLst/>
          </a:prstGeom>
        </p:spPr>
      </p:pic>
      <p:pic>
        <p:nvPicPr>
          <p:cNvPr id="98" name="Picture 97"/>
          <p:cNvPicPr>
            <a:picLocks/>
          </p:cNvPicPr>
          <p:nvPr/>
        </p:nvPicPr>
        <p:blipFill>
          <a:blip r:embed="rId29"/>
          <a:stretch>
            <a:fillRect/>
          </a:stretch>
        </p:blipFill>
        <p:spPr>
          <a:xfrm>
            <a:off x="3841260" y="4185556"/>
            <a:ext cx="1292959" cy="160736"/>
          </a:xfrm>
          <a:prstGeom prst="rect">
            <a:avLst/>
          </a:prstGeom>
        </p:spPr>
      </p:pic>
      <p:pic>
        <p:nvPicPr>
          <p:cNvPr id="99" name="Picture 98"/>
          <p:cNvPicPr>
            <a:picLocks/>
          </p:cNvPicPr>
          <p:nvPr/>
        </p:nvPicPr>
        <p:blipFill>
          <a:blip r:embed="rId30"/>
          <a:stretch>
            <a:fillRect/>
          </a:stretch>
        </p:blipFill>
        <p:spPr>
          <a:xfrm>
            <a:off x="3841259" y="4438403"/>
            <a:ext cx="1292959" cy="189311"/>
          </a:xfrm>
          <a:prstGeom prst="rect">
            <a:avLst/>
          </a:prstGeom>
        </p:spPr>
      </p:pic>
      <p:pic>
        <p:nvPicPr>
          <p:cNvPr id="100" name="Picture 99"/>
          <p:cNvPicPr>
            <a:picLocks/>
          </p:cNvPicPr>
          <p:nvPr/>
        </p:nvPicPr>
        <p:blipFill>
          <a:blip r:embed="rId31"/>
          <a:stretch>
            <a:fillRect/>
          </a:stretch>
        </p:blipFill>
        <p:spPr>
          <a:xfrm>
            <a:off x="3841259" y="4695964"/>
            <a:ext cx="1292959" cy="163593"/>
          </a:xfrm>
          <a:prstGeom prst="rect">
            <a:avLst/>
          </a:prstGeom>
        </p:spPr>
      </p:pic>
      <p:cxnSp>
        <p:nvCxnSpPr>
          <p:cNvPr id="101" name="Straight Arrow Connector 100"/>
          <p:cNvCxnSpPr/>
          <p:nvPr/>
        </p:nvCxnSpPr>
        <p:spPr>
          <a:xfrm>
            <a:off x="4417773" y="4364807"/>
            <a:ext cx="0" cy="119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4417773" y="4879547"/>
            <a:ext cx="0" cy="119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394685" y="4831444"/>
            <a:ext cx="386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  <a:cs typeface="Arial" panose="020B0604020202020204" pitchFamily="34" charset="0"/>
              </a:rPr>
              <a:t>-4 </a:t>
            </a:r>
            <a:r>
              <a:rPr lang="en-US" sz="800" dirty="0" err="1">
                <a:solidFill>
                  <a:prstClr val="black"/>
                </a:solidFill>
                <a:cs typeface="Arial" panose="020B0604020202020204" pitchFamily="34" charset="0"/>
              </a:rPr>
              <a:t>nA</a:t>
            </a:r>
            <a:endParaRPr lang="en-US" sz="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3720169" y="499878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76249" y="6292482"/>
            <a:ext cx="1550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% change in Si3 spike rate</a:t>
            </a:r>
          </a:p>
        </p:txBody>
      </p:sp>
      <p:sp>
        <p:nvSpPr>
          <p:cNvPr id="103" name="TextBox 102"/>
          <p:cNvSpPr txBox="1"/>
          <p:nvPr/>
        </p:nvSpPr>
        <p:spPr>
          <a:xfrm rot="16200000">
            <a:off x="1710728" y="7078335"/>
            <a:ext cx="93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% change in burst freq.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22048" y="6643997"/>
            <a:ext cx="227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74747" y="13390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Fig. 5</a:t>
            </a:r>
          </a:p>
        </p:txBody>
      </p:sp>
    </p:spTree>
    <p:extLst>
      <p:ext uri="{BB962C8B-B14F-4D97-AF65-F5344CB8AC3E}">
        <p14:creationId xmlns:p14="http://schemas.microsoft.com/office/powerpoint/2010/main" val="1809406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624200" y="6229664"/>
          <a:ext cx="1616075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2" imgW="1615455" imgH="1604845" progId="SigmaPlotGraphicObject.11">
                  <p:embed/>
                </p:oleObj>
              </mc:Choice>
              <mc:Fallback>
                <p:oleObj name="SPW 12.0 Graph" r:id="rId2" imgW="1615455" imgH="1604845" progId="SigmaPlotGraphicObject.11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24200" y="6229664"/>
                        <a:ext cx="1616075" cy="1604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861286" y="6231251"/>
          <a:ext cx="1616075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4" imgW="1615455" imgH="1604845" progId="SigmaPlotGraphicObject.11">
                  <p:embed/>
                </p:oleObj>
              </mc:Choice>
              <mc:Fallback>
                <p:oleObj name="SPW 12.0 Graph" r:id="rId4" imgW="1615455" imgH="1604845" progId="SigmaPlotGraphicObject.1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61286" y="6231251"/>
                        <a:ext cx="1616075" cy="1604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71549" y="1977028"/>
            <a:ext cx="4251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L-Si2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519" y="2296588"/>
            <a:ext cx="4411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R-Si2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549" y="2616148"/>
            <a:ext cx="4251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L-Si3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519" y="2908814"/>
            <a:ext cx="4411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R-Si3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544" y="3197631"/>
            <a:ext cx="5341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L-PdN3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514" y="3375227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R-PdN3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-419824" y="4890552"/>
            <a:ext cx="1723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Instantaneous spike freq. (Hz)</a:t>
            </a:r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479829" y="3764810"/>
          <a:ext cx="1598613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6" imgW="1600288" imgH="2571750" progId="SigmaPlotGraphicObject.11">
                  <p:embed/>
                </p:oleObj>
              </mc:Choice>
              <mc:Fallback>
                <p:oleObj name="SPW 12.0 Graph" r:id="rId6" imgW="1600288" imgH="2571750" progId="SigmaPlotGraphicObject.11">
                  <p:embed/>
                  <p:pic>
                    <p:nvPicPr>
                      <p:cNvPr id="26" name="Object 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9829" y="3764810"/>
                        <a:ext cx="1598613" cy="257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31273" y="1977028"/>
            <a:ext cx="1097280" cy="1570215"/>
            <a:chOff x="861665" y="1566723"/>
            <a:chExt cx="1462435" cy="1570215"/>
          </a:xfrm>
        </p:grpSpPr>
        <p:pic>
          <p:nvPicPr>
            <p:cNvPr id="6" name="Picture 5"/>
            <p:cNvPicPr>
              <a:picLocks/>
            </p:cNvPicPr>
            <p:nvPr/>
          </p:nvPicPr>
          <p:blipFill rotWithShape="1">
            <a:blip r:embed="rId8"/>
            <a:srcRect r="27303"/>
            <a:stretch/>
          </p:blipFill>
          <p:spPr>
            <a:xfrm>
              <a:off x="861665" y="1566723"/>
              <a:ext cx="1462435" cy="21945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/>
            </p:cNvPicPr>
            <p:nvPr/>
          </p:nvPicPr>
          <p:blipFill rotWithShape="1">
            <a:blip r:embed="rId9"/>
            <a:srcRect r="27303"/>
            <a:stretch/>
          </p:blipFill>
          <p:spPr>
            <a:xfrm>
              <a:off x="861665" y="1886283"/>
              <a:ext cx="1462435" cy="21945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/>
            </p:cNvPicPr>
            <p:nvPr/>
          </p:nvPicPr>
          <p:blipFill rotWithShape="1">
            <a:blip r:embed="rId10"/>
            <a:srcRect r="27303"/>
            <a:stretch/>
          </p:blipFill>
          <p:spPr>
            <a:xfrm>
              <a:off x="861665" y="2205843"/>
              <a:ext cx="1462435" cy="219456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/>
            </p:cNvPicPr>
            <p:nvPr/>
          </p:nvPicPr>
          <p:blipFill rotWithShape="1">
            <a:blip r:embed="rId11"/>
            <a:srcRect r="27303"/>
            <a:stretch/>
          </p:blipFill>
          <p:spPr>
            <a:xfrm>
              <a:off x="861665" y="2498509"/>
              <a:ext cx="1462435" cy="21945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/>
            </p:cNvPicPr>
            <p:nvPr/>
          </p:nvPicPr>
          <p:blipFill rotWithShape="1">
            <a:blip r:embed="rId12"/>
            <a:srcRect r="27303"/>
            <a:stretch/>
          </p:blipFill>
          <p:spPr>
            <a:xfrm>
              <a:off x="861665" y="2836334"/>
              <a:ext cx="1462435" cy="128588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/>
            </p:cNvPicPr>
            <p:nvPr/>
          </p:nvPicPr>
          <p:blipFill rotWithShape="1">
            <a:blip r:embed="rId13"/>
            <a:srcRect r="27303"/>
            <a:stretch/>
          </p:blipFill>
          <p:spPr>
            <a:xfrm>
              <a:off x="861665" y="3008350"/>
              <a:ext cx="1462435" cy="128588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288225" y="1722626"/>
              <a:ext cx="60931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/>
                <a:t>+2 </a:t>
              </a:r>
              <a:r>
                <a:rPr lang="en-US" sz="800" dirty="0" err="1"/>
                <a:t>nA</a:t>
              </a:r>
              <a:endParaRPr lang="en-US" sz="800" dirty="0"/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 flipV="1">
              <a:off x="1043207" y="2098697"/>
              <a:ext cx="0" cy="6400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V="1">
              <a:off x="1043207" y="1770072"/>
              <a:ext cx="0" cy="6400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1288225" y="2051018"/>
              <a:ext cx="60931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/>
                <a:t>+2 </a:t>
              </a:r>
              <a:r>
                <a:rPr lang="en-US" sz="800" dirty="0" err="1"/>
                <a:t>nA</a:t>
              </a:r>
              <a:endParaRPr lang="en-US" sz="800" dirty="0"/>
            </a:p>
          </p:txBody>
        </p:sp>
        <p:cxnSp>
          <p:nvCxnSpPr>
            <p:cNvPr id="57" name="Straight Arrow Connector 56"/>
            <p:cNvCxnSpPr/>
            <p:nvPr/>
          </p:nvCxnSpPr>
          <p:spPr>
            <a:xfrm>
              <a:off x="2138065" y="2098697"/>
              <a:ext cx="0" cy="6400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2138065" y="1770072"/>
              <a:ext cx="0" cy="6400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/>
          <p:cNvSpPr txBox="1"/>
          <p:nvPr/>
        </p:nvSpPr>
        <p:spPr>
          <a:xfrm>
            <a:off x="747580" y="1673462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Si2s depolarized</a:t>
            </a:r>
            <a:endParaRPr lang="en-US" sz="900" i="1" dirty="0">
              <a:solidFill>
                <a:prstClr val="black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55654" y="3870740"/>
            <a:ext cx="4251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L-Si2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639" y="4240294"/>
            <a:ext cx="4411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R-Si2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5654" y="4689091"/>
            <a:ext cx="4251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L-Si3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639" y="5033192"/>
            <a:ext cx="4411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R-Si3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5654" y="5324338"/>
            <a:ext cx="5341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L-PdN3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639" y="5736440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R-PdN3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1400" y="161435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</a:t>
            </a:r>
            <a:r>
              <a:rPr lang="en-US" sz="1200" b="1" i="1" dirty="0"/>
              <a:t>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61286" y="161435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B</a:t>
            </a:r>
            <a:r>
              <a:rPr lang="en-US" sz="1200" b="1" i="1" dirty="0"/>
              <a:t>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74747" y="13390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Fig. 7</a:t>
            </a:r>
          </a:p>
        </p:txBody>
      </p:sp>
      <p:graphicFrame>
        <p:nvGraphicFramePr>
          <p:cNvPr id="125" name="Object 124"/>
          <p:cNvGraphicFramePr>
            <a:graphicFrameLocks noChangeAspect="1"/>
          </p:cNvGraphicFramePr>
          <p:nvPr/>
        </p:nvGraphicFramePr>
        <p:xfrm>
          <a:off x="4624200" y="3724112"/>
          <a:ext cx="2019300" cy="264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14" imgW="2019402" imgH="2647937" progId="SigmaPlotGraphicObject.11">
                  <p:embed/>
                </p:oleObj>
              </mc:Choice>
              <mc:Fallback>
                <p:oleObj name="SPW 12.0 Graph" r:id="rId14" imgW="2019402" imgH="2647937" progId="SigmaPlotGraphicObject.11">
                  <p:embed/>
                  <p:pic>
                    <p:nvPicPr>
                      <p:cNvPr id="125" name="Object 1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24200" y="3724112"/>
                        <a:ext cx="2019300" cy="2644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0" name="Group 129"/>
          <p:cNvGrpSpPr/>
          <p:nvPr/>
        </p:nvGrpSpPr>
        <p:grpSpPr>
          <a:xfrm>
            <a:off x="4886166" y="1978444"/>
            <a:ext cx="1508760" cy="1570215"/>
            <a:chOff x="3401120" y="4130848"/>
            <a:chExt cx="2011680" cy="1570215"/>
          </a:xfrm>
        </p:grpSpPr>
        <p:pic>
          <p:nvPicPr>
            <p:cNvPr id="131" name="Picture 130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01120" y="5400459"/>
              <a:ext cx="2011680" cy="128588"/>
            </a:xfrm>
            <a:prstGeom prst="rect">
              <a:avLst/>
            </a:prstGeom>
          </p:spPr>
        </p:pic>
        <p:pic>
          <p:nvPicPr>
            <p:cNvPr id="132" name="Picture 131"/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401120" y="5572475"/>
              <a:ext cx="2011680" cy="128588"/>
            </a:xfrm>
            <a:prstGeom prst="rect">
              <a:avLst/>
            </a:prstGeom>
          </p:spPr>
        </p:pic>
        <p:grpSp>
          <p:nvGrpSpPr>
            <p:cNvPr id="133" name="Group 132"/>
            <p:cNvGrpSpPr/>
            <p:nvPr/>
          </p:nvGrpSpPr>
          <p:grpSpPr>
            <a:xfrm>
              <a:off x="3401120" y="4130848"/>
              <a:ext cx="2011680" cy="1226337"/>
              <a:chOff x="3401120" y="4130848"/>
              <a:chExt cx="2011680" cy="1226337"/>
            </a:xfrm>
          </p:grpSpPr>
          <p:pic>
            <p:nvPicPr>
              <p:cNvPr id="134" name="Picture 133"/>
              <p:cNvPicPr>
                <a:picLocks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01120" y="4130848"/>
                <a:ext cx="2011680" cy="219456"/>
              </a:xfrm>
              <a:prstGeom prst="rect">
                <a:avLst/>
              </a:prstGeom>
            </p:spPr>
          </p:pic>
          <p:pic>
            <p:nvPicPr>
              <p:cNvPr id="135" name="Picture 134"/>
              <p:cNvPicPr>
                <a:picLocks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01120" y="4450408"/>
                <a:ext cx="2011680" cy="219456"/>
              </a:xfrm>
              <a:prstGeom prst="rect">
                <a:avLst/>
              </a:prstGeom>
            </p:spPr>
          </p:pic>
          <p:pic>
            <p:nvPicPr>
              <p:cNvPr id="136" name="Picture 135"/>
              <p:cNvPicPr>
                <a:picLocks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401120" y="4769968"/>
                <a:ext cx="2011680" cy="219456"/>
              </a:xfrm>
              <a:prstGeom prst="rect">
                <a:avLst/>
              </a:prstGeom>
            </p:spPr>
          </p:pic>
          <p:pic>
            <p:nvPicPr>
              <p:cNvPr id="137" name="Picture 136"/>
              <p:cNvPicPr>
                <a:picLocks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01120" y="5062634"/>
                <a:ext cx="2011680" cy="219456"/>
              </a:xfrm>
              <a:prstGeom prst="rect">
                <a:avLst/>
              </a:prstGeom>
            </p:spPr>
          </p:pic>
          <p:cxnSp>
            <p:nvCxnSpPr>
              <p:cNvPr id="138" name="Straight Arrow Connector 137"/>
              <p:cNvCxnSpPr/>
              <p:nvPr/>
            </p:nvCxnSpPr>
            <p:spPr>
              <a:xfrm flipV="1">
                <a:off x="3584832" y="4981807"/>
                <a:ext cx="0" cy="6400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/>
              <p:cNvCxnSpPr/>
              <p:nvPr/>
            </p:nvCxnSpPr>
            <p:spPr>
              <a:xfrm flipV="1">
                <a:off x="3584832" y="5293177"/>
                <a:ext cx="0" cy="6400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/>
              <p:nvPr/>
            </p:nvCxnSpPr>
            <p:spPr>
              <a:xfrm flipV="1">
                <a:off x="3582212" y="4662822"/>
                <a:ext cx="0" cy="6400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/>
              <p:nvPr/>
            </p:nvCxnSpPr>
            <p:spPr>
              <a:xfrm flipV="1">
                <a:off x="3584832" y="4334197"/>
                <a:ext cx="0" cy="6400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/>
              <p:cNvCxnSpPr/>
              <p:nvPr/>
            </p:nvCxnSpPr>
            <p:spPr>
              <a:xfrm>
                <a:off x="5178500" y="4981807"/>
                <a:ext cx="0" cy="6400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>
                <a:off x="5202006" y="5293177"/>
                <a:ext cx="0" cy="6400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/>
              <p:cNvCxnSpPr/>
              <p:nvPr/>
            </p:nvCxnSpPr>
            <p:spPr>
              <a:xfrm>
                <a:off x="5202006" y="4662822"/>
                <a:ext cx="0" cy="6400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/>
              <p:cNvCxnSpPr/>
              <p:nvPr/>
            </p:nvCxnSpPr>
            <p:spPr>
              <a:xfrm>
                <a:off x="5182232" y="4334197"/>
                <a:ext cx="0" cy="6400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6" name="TextBox 145"/>
          <p:cNvSpPr txBox="1"/>
          <p:nvPr/>
        </p:nvSpPr>
        <p:spPr>
          <a:xfrm>
            <a:off x="4957750" y="1673462"/>
            <a:ext cx="13263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All 4 cells depolarized</a:t>
            </a:r>
            <a:endParaRPr lang="en-US" sz="900" i="1" dirty="0">
              <a:solidFill>
                <a:prstClr val="black"/>
              </a:solidFill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6132758" y="6145732"/>
            <a:ext cx="137160" cy="91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/>
          <p:cNvSpPr txBox="1"/>
          <p:nvPr/>
        </p:nvSpPr>
        <p:spPr>
          <a:xfrm>
            <a:off x="6000968" y="6121942"/>
            <a:ext cx="4892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10 sec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236442" y="1926741"/>
            <a:ext cx="9144" cy="91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/>
          <p:cNvSpPr txBox="1"/>
          <p:nvPr/>
        </p:nvSpPr>
        <p:spPr>
          <a:xfrm>
            <a:off x="6185022" y="1839255"/>
            <a:ext cx="33855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sz="800" dirty="0"/>
              <a:t>50</a:t>
            </a:r>
          </a:p>
          <a:p>
            <a:pPr>
              <a:lnSpc>
                <a:spcPts val="800"/>
              </a:lnSpc>
            </a:pPr>
            <a:r>
              <a:rPr lang="en-US" sz="800" dirty="0"/>
              <a:t>mV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11958" y="2126667"/>
            <a:ext cx="457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+2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127" name="TextBox 126"/>
          <p:cNvSpPr txBox="1"/>
          <p:nvPr/>
        </p:nvSpPr>
        <p:spPr>
          <a:xfrm>
            <a:off x="5411958" y="2455059"/>
            <a:ext cx="457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+2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128" name="TextBox 127"/>
          <p:cNvSpPr txBox="1"/>
          <p:nvPr/>
        </p:nvSpPr>
        <p:spPr>
          <a:xfrm>
            <a:off x="5411958" y="2749814"/>
            <a:ext cx="457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+2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129" name="TextBox 128"/>
          <p:cNvSpPr txBox="1"/>
          <p:nvPr/>
        </p:nvSpPr>
        <p:spPr>
          <a:xfrm>
            <a:off x="5411958" y="3061699"/>
            <a:ext cx="457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+2 </a:t>
            </a:r>
            <a:r>
              <a:rPr lang="en-US" sz="800" dirty="0" err="1"/>
              <a:t>nA</a:t>
            </a:r>
            <a:endParaRPr lang="en-US" sz="800" dirty="0"/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3242743" y="3856885"/>
          <a:ext cx="1598613" cy="247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22" imgW="1600288" imgH="2476604" progId="SigmaPlotGraphicObject.11">
                  <p:embed/>
                </p:oleObj>
              </mc:Choice>
              <mc:Fallback>
                <p:oleObj name="SPW 12.0 Graph" r:id="rId22" imgW="1600288" imgH="2476604" progId="SigmaPlotGraphicObject.11">
                  <p:embed/>
                  <p:pic>
                    <p:nvPicPr>
                      <p:cNvPr id="27" name="Object 2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242743" y="3856885"/>
                        <a:ext cx="1598613" cy="2479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/>
        </p:nvPicPr>
        <p:blipFill rotWithShape="1">
          <a:blip r:embed="rId24"/>
          <a:srcRect r="27318"/>
          <a:stretch/>
        </p:blipFill>
        <p:spPr>
          <a:xfrm>
            <a:off x="3496869" y="2022981"/>
            <a:ext cx="1097280" cy="219456"/>
          </a:xfrm>
          <a:prstGeom prst="rect">
            <a:avLst/>
          </a:prstGeom>
        </p:spPr>
      </p:pic>
      <p:pic>
        <p:nvPicPr>
          <p:cNvPr id="9" name="Picture 8"/>
          <p:cNvPicPr>
            <a:picLocks/>
          </p:cNvPicPr>
          <p:nvPr/>
        </p:nvPicPr>
        <p:blipFill rotWithShape="1">
          <a:blip r:embed="rId25"/>
          <a:srcRect r="27318"/>
          <a:stretch/>
        </p:blipFill>
        <p:spPr>
          <a:xfrm>
            <a:off x="3496869" y="2351836"/>
            <a:ext cx="1097280" cy="219456"/>
          </a:xfrm>
          <a:prstGeom prst="rect">
            <a:avLst/>
          </a:prstGeom>
        </p:spPr>
      </p:pic>
      <p:pic>
        <p:nvPicPr>
          <p:cNvPr id="12" name="Picture 11"/>
          <p:cNvPicPr>
            <a:picLocks/>
          </p:cNvPicPr>
          <p:nvPr/>
        </p:nvPicPr>
        <p:blipFill rotWithShape="1">
          <a:blip r:embed="rId26"/>
          <a:srcRect r="27318"/>
          <a:stretch/>
        </p:blipFill>
        <p:spPr>
          <a:xfrm>
            <a:off x="3496869" y="2616148"/>
            <a:ext cx="1097280" cy="219456"/>
          </a:xfrm>
          <a:prstGeom prst="rect">
            <a:avLst/>
          </a:prstGeom>
        </p:spPr>
      </p:pic>
      <p:pic>
        <p:nvPicPr>
          <p:cNvPr id="15" name="Picture 14"/>
          <p:cNvPicPr>
            <a:picLocks/>
          </p:cNvPicPr>
          <p:nvPr/>
        </p:nvPicPr>
        <p:blipFill rotWithShape="1">
          <a:blip r:embed="rId27"/>
          <a:srcRect r="27318"/>
          <a:stretch/>
        </p:blipFill>
        <p:spPr>
          <a:xfrm>
            <a:off x="3496869" y="2908814"/>
            <a:ext cx="1097280" cy="219456"/>
          </a:xfrm>
          <a:prstGeom prst="rect">
            <a:avLst/>
          </a:prstGeom>
        </p:spPr>
      </p:pic>
      <p:pic>
        <p:nvPicPr>
          <p:cNvPr id="18" name="Picture 17"/>
          <p:cNvPicPr>
            <a:picLocks/>
          </p:cNvPicPr>
          <p:nvPr/>
        </p:nvPicPr>
        <p:blipFill rotWithShape="1">
          <a:blip r:embed="rId28"/>
          <a:srcRect r="27318"/>
          <a:stretch/>
        </p:blipFill>
        <p:spPr>
          <a:xfrm>
            <a:off x="3496869" y="3246639"/>
            <a:ext cx="1097280" cy="128588"/>
          </a:xfrm>
          <a:prstGeom prst="rect">
            <a:avLst/>
          </a:prstGeom>
        </p:spPr>
      </p:pic>
      <p:pic>
        <p:nvPicPr>
          <p:cNvPr id="23" name="Picture 22"/>
          <p:cNvPicPr>
            <a:picLocks/>
          </p:cNvPicPr>
          <p:nvPr/>
        </p:nvPicPr>
        <p:blipFill rotWithShape="1">
          <a:blip r:embed="rId29"/>
          <a:srcRect r="27318"/>
          <a:stretch/>
        </p:blipFill>
        <p:spPr>
          <a:xfrm>
            <a:off x="3496869" y="3418655"/>
            <a:ext cx="1097280" cy="128588"/>
          </a:xfrm>
          <a:prstGeom prst="rect">
            <a:avLst/>
          </a:prstGeom>
        </p:spPr>
      </p:pic>
      <p:cxnSp>
        <p:nvCxnSpPr>
          <p:cNvPr id="49" name="Straight Arrow Connector 48"/>
          <p:cNvCxnSpPr/>
          <p:nvPr/>
        </p:nvCxnSpPr>
        <p:spPr>
          <a:xfrm flipV="1">
            <a:off x="3633875" y="2827987"/>
            <a:ext cx="0" cy="6400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3633875" y="3139357"/>
            <a:ext cx="0" cy="6400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455461" y="2827987"/>
            <a:ext cx="0" cy="6400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455461" y="3139357"/>
            <a:ext cx="0" cy="6400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816921" y="2756078"/>
            <a:ext cx="457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+2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52" name="TextBox 51"/>
          <p:cNvSpPr txBox="1"/>
          <p:nvPr/>
        </p:nvSpPr>
        <p:spPr>
          <a:xfrm>
            <a:off x="3816921" y="3102322"/>
            <a:ext cx="457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+2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68" name="TextBox 67"/>
          <p:cNvSpPr txBox="1"/>
          <p:nvPr/>
        </p:nvSpPr>
        <p:spPr>
          <a:xfrm>
            <a:off x="3407542" y="1673462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Si3s depolarized</a:t>
            </a:r>
          </a:p>
          <a:p>
            <a:pPr algn="ctr"/>
            <a:r>
              <a:rPr lang="en-US" sz="900" dirty="0">
                <a:solidFill>
                  <a:prstClr val="black"/>
                </a:solidFill>
              </a:rPr>
              <a:t>(Si2s hyperpolarized)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413567" y="2130868"/>
            <a:ext cx="4315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-2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153" name="TextBox 152"/>
          <p:cNvSpPr txBox="1"/>
          <p:nvPr/>
        </p:nvSpPr>
        <p:spPr>
          <a:xfrm>
            <a:off x="3413568" y="2427417"/>
            <a:ext cx="4315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-2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124" name="TextBox 123"/>
          <p:cNvSpPr txBox="1"/>
          <p:nvPr/>
        </p:nvSpPr>
        <p:spPr>
          <a:xfrm>
            <a:off x="2189055" y="1673462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prstClr val="black"/>
                </a:solidFill>
              </a:rPr>
              <a:t>Si3s depolarized</a:t>
            </a:r>
          </a:p>
        </p:txBody>
      </p:sp>
      <p:graphicFrame>
        <p:nvGraphicFramePr>
          <p:cNvPr id="115" name="Object 114"/>
          <p:cNvGraphicFramePr>
            <a:graphicFrameLocks noChangeAspect="1"/>
          </p:cNvGraphicFramePr>
          <p:nvPr/>
        </p:nvGraphicFramePr>
        <p:xfrm>
          <a:off x="1861286" y="3691785"/>
          <a:ext cx="1598613" cy="264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30" imgW="1600288" imgH="2647937" progId="SigmaPlotGraphicObject.11">
                  <p:embed/>
                </p:oleObj>
              </mc:Choice>
              <mc:Fallback>
                <p:oleObj name="SPW 12.0 Graph" r:id="rId30" imgW="1600288" imgH="2647937" progId="SigmaPlotGraphicObject.11">
                  <p:embed/>
                  <p:pic>
                    <p:nvPicPr>
                      <p:cNvPr id="115" name="Object 11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861286" y="3691785"/>
                        <a:ext cx="1598613" cy="2644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" name="Group 115"/>
          <p:cNvGrpSpPr/>
          <p:nvPr/>
        </p:nvGrpSpPr>
        <p:grpSpPr>
          <a:xfrm>
            <a:off x="2121372" y="1931130"/>
            <a:ext cx="1097280" cy="1617529"/>
            <a:chOff x="1570868" y="4083534"/>
            <a:chExt cx="1467481" cy="1617529"/>
          </a:xfrm>
        </p:grpSpPr>
        <p:pic>
          <p:nvPicPr>
            <p:cNvPr id="117" name="Picture 116"/>
            <p:cNvPicPr>
              <a:picLocks/>
            </p:cNvPicPr>
            <p:nvPr/>
          </p:nvPicPr>
          <p:blipFill rotWithShape="1">
            <a:blip r:embed="rId32"/>
            <a:srcRect r="27052"/>
            <a:stretch/>
          </p:blipFill>
          <p:spPr>
            <a:xfrm>
              <a:off x="1570868" y="4083534"/>
              <a:ext cx="1467481" cy="219456"/>
            </a:xfrm>
            <a:prstGeom prst="rect">
              <a:avLst/>
            </a:prstGeom>
          </p:spPr>
        </p:pic>
        <p:pic>
          <p:nvPicPr>
            <p:cNvPr id="118" name="Picture 117"/>
            <p:cNvPicPr>
              <a:picLocks/>
            </p:cNvPicPr>
            <p:nvPr/>
          </p:nvPicPr>
          <p:blipFill rotWithShape="1">
            <a:blip r:embed="rId33"/>
            <a:srcRect r="27052"/>
            <a:stretch/>
          </p:blipFill>
          <p:spPr>
            <a:xfrm>
              <a:off x="1570868" y="4410060"/>
              <a:ext cx="1467481" cy="219456"/>
            </a:xfrm>
            <a:prstGeom prst="rect">
              <a:avLst/>
            </a:prstGeom>
          </p:spPr>
        </p:pic>
        <p:pic>
          <p:nvPicPr>
            <p:cNvPr id="119" name="Picture 118"/>
            <p:cNvPicPr>
              <a:picLocks/>
            </p:cNvPicPr>
            <p:nvPr/>
          </p:nvPicPr>
          <p:blipFill rotWithShape="1">
            <a:blip r:embed="rId34"/>
            <a:srcRect r="27052"/>
            <a:stretch/>
          </p:blipFill>
          <p:spPr>
            <a:xfrm>
              <a:off x="1570868" y="4759294"/>
              <a:ext cx="1467481" cy="219456"/>
            </a:xfrm>
            <a:prstGeom prst="rect">
              <a:avLst/>
            </a:prstGeom>
          </p:spPr>
        </p:pic>
        <p:pic>
          <p:nvPicPr>
            <p:cNvPr id="120" name="Picture 119"/>
            <p:cNvPicPr>
              <a:picLocks/>
            </p:cNvPicPr>
            <p:nvPr/>
          </p:nvPicPr>
          <p:blipFill rotWithShape="1">
            <a:blip r:embed="rId35"/>
            <a:srcRect r="27052"/>
            <a:stretch/>
          </p:blipFill>
          <p:spPr>
            <a:xfrm>
              <a:off x="1570868" y="5069750"/>
              <a:ext cx="1467481" cy="219456"/>
            </a:xfrm>
            <a:prstGeom prst="rect">
              <a:avLst/>
            </a:prstGeom>
          </p:spPr>
        </p:pic>
        <p:pic>
          <p:nvPicPr>
            <p:cNvPr id="121" name="Picture 120"/>
            <p:cNvPicPr>
              <a:picLocks/>
            </p:cNvPicPr>
            <p:nvPr/>
          </p:nvPicPr>
          <p:blipFill rotWithShape="1">
            <a:blip r:embed="rId36"/>
            <a:srcRect t="1" r="27052" b="-1"/>
            <a:stretch/>
          </p:blipFill>
          <p:spPr>
            <a:xfrm>
              <a:off x="1570868" y="5400459"/>
              <a:ext cx="1467481" cy="131763"/>
            </a:xfrm>
            <a:prstGeom prst="rect">
              <a:avLst/>
            </a:prstGeom>
          </p:spPr>
        </p:pic>
        <p:pic>
          <p:nvPicPr>
            <p:cNvPr id="122" name="Picture 121"/>
            <p:cNvPicPr>
              <a:picLocks/>
            </p:cNvPicPr>
            <p:nvPr/>
          </p:nvPicPr>
          <p:blipFill rotWithShape="1">
            <a:blip r:embed="rId37"/>
            <a:srcRect r="27052"/>
            <a:stretch/>
          </p:blipFill>
          <p:spPr>
            <a:xfrm>
              <a:off x="1570868" y="5572475"/>
              <a:ext cx="1467481" cy="128588"/>
            </a:xfrm>
            <a:prstGeom prst="rect">
              <a:avLst/>
            </a:prstGeom>
          </p:spPr>
        </p:pic>
      </p:grpSp>
      <p:cxnSp>
        <p:nvCxnSpPr>
          <p:cNvPr id="154" name="Straight Arrow Connector 153"/>
          <p:cNvCxnSpPr/>
          <p:nvPr/>
        </p:nvCxnSpPr>
        <p:spPr>
          <a:xfrm flipV="1">
            <a:off x="2255782" y="2827987"/>
            <a:ext cx="0" cy="6400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flipV="1">
            <a:off x="2255782" y="3139357"/>
            <a:ext cx="0" cy="6400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3077368" y="2827987"/>
            <a:ext cx="0" cy="6400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077368" y="3139357"/>
            <a:ext cx="0" cy="6400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2441424" y="2756078"/>
            <a:ext cx="457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+2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159" name="TextBox 158"/>
          <p:cNvSpPr txBox="1"/>
          <p:nvPr/>
        </p:nvSpPr>
        <p:spPr>
          <a:xfrm>
            <a:off x="2441424" y="3102322"/>
            <a:ext cx="457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+2 </a:t>
            </a:r>
            <a:r>
              <a:rPr lang="en-US" sz="800" dirty="0" err="1"/>
              <a:t>nA</a:t>
            </a:r>
            <a:endParaRPr lang="en-US" sz="800" dirty="0"/>
          </a:p>
        </p:txBody>
      </p:sp>
      <p:sp>
        <p:nvSpPr>
          <p:cNvPr id="160" name="TextBox 159"/>
          <p:cNvSpPr txBox="1"/>
          <p:nvPr/>
        </p:nvSpPr>
        <p:spPr>
          <a:xfrm>
            <a:off x="-1270412" y="1901662"/>
            <a:ext cx="1270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160119-02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479829" y="6229664"/>
          <a:ext cx="1617663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38" imgW="1616898" imgH="1606285" progId="SigmaPlotGraphicObject.11">
                  <p:embed/>
                </p:oleObj>
              </mc:Choice>
              <mc:Fallback>
                <p:oleObj name="SPW 12.0 Graph" r:id="rId38" imgW="1616898" imgH="1606285" progId="SigmaPlotGraphicObject.11">
                  <p:embed/>
                  <p:pic>
                    <p:nvPicPr>
                      <p:cNvPr id="28" name="Object 27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79829" y="6229664"/>
                        <a:ext cx="1617663" cy="160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3242743" y="6229664"/>
          <a:ext cx="1617663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W 12.0 Graph" r:id="rId40" imgW="1616898" imgH="1606285" progId="SigmaPlotGraphicObject.11">
                  <p:embed/>
                </p:oleObj>
              </mc:Choice>
              <mc:Fallback>
                <p:oleObj name="SPW 12.0 Graph" r:id="rId40" imgW="1616898" imgH="1606285" progId="SigmaPlotGraphicObject.11">
                  <p:embed/>
                  <p:pic>
                    <p:nvPicPr>
                      <p:cNvPr id="29" name="Object 28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242743" y="6229664"/>
                        <a:ext cx="1617663" cy="160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TextBox 160"/>
          <p:cNvSpPr txBox="1"/>
          <p:nvPr/>
        </p:nvSpPr>
        <p:spPr>
          <a:xfrm rot="16200000">
            <a:off x="-138677" y="6992475"/>
            <a:ext cx="1127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%Burst 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973" y="7786923"/>
            <a:ext cx="819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Current (</a:t>
            </a:r>
            <a:r>
              <a:rPr lang="en-US" sz="900" dirty="0" err="1"/>
              <a:t>nA</a:t>
            </a:r>
            <a:r>
              <a:rPr lang="en-US" sz="900" dirty="0"/>
              <a:t>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192024" y="7786923"/>
            <a:ext cx="819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Current (</a:t>
            </a:r>
            <a:r>
              <a:rPr lang="en-US" sz="900" dirty="0" err="1"/>
              <a:t>nA</a:t>
            </a:r>
            <a:r>
              <a:rPr lang="en-US" sz="900" dirty="0"/>
              <a:t>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566249" y="7786923"/>
            <a:ext cx="819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Current (</a:t>
            </a:r>
            <a:r>
              <a:rPr lang="en-US" sz="900" dirty="0" err="1"/>
              <a:t>nA</a:t>
            </a:r>
            <a:r>
              <a:rPr lang="en-US" sz="900" dirty="0"/>
              <a:t>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946993" y="7786923"/>
            <a:ext cx="819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Current (</a:t>
            </a:r>
            <a:r>
              <a:rPr lang="en-US" sz="900" dirty="0" err="1"/>
              <a:t>nA</a:t>
            </a:r>
            <a:r>
              <a:rPr lang="en-US" sz="900" dirty="0"/>
              <a:t>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42743" y="161435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</a:t>
            </a:r>
            <a:r>
              <a:rPr lang="en-US" sz="1200" b="1" i="1" dirty="0"/>
              <a:t>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24200" y="161435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</a:t>
            </a:r>
            <a:r>
              <a:rPr lang="en-US" sz="1200" b="1" i="1" dirty="0"/>
              <a:t>i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81400" y="3701463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A</a:t>
            </a:r>
            <a:r>
              <a:rPr lang="en-US" sz="1200" b="1" i="1" dirty="0" err="1"/>
              <a:t>ii</a:t>
            </a:r>
            <a:endParaRPr lang="en-US" sz="1200" b="1" i="1" dirty="0"/>
          </a:p>
        </p:txBody>
      </p:sp>
      <p:sp>
        <p:nvSpPr>
          <p:cNvPr id="171" name="TextBox 170"/>
          <p:cNvSpPr txBox="1"/>
          <p:nvPr/>
        </p:nvSpPr>
        <p:spPr>
          <a:xfrm>
            <a:off x="1861286" y="3701463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B</a:t>
            </a:r>
            <a:r>
              <a:rPr lang="en-US" sz="1200" b="1" i="1" dirty="0" err="1"/>
              <a:t>ii</a:t>
            </a:r>
            <a:endParaRPr lang="en-US" sz="1200" b="1" i="1" dirty="0"/>
          </a:p>
        </p:txBody>
      </p:sp>
      <p:sp>
        <p:nvSpPr>
          <p:cNvPr id="172" name="TextBox 171"/>
          <p:cNvSpPr txBox="1"/>
          <p:nvPr/>
        </p:nvSpPr>
        <p:spPr>
          <a:xfrm>
            <a:off x="3242743" y="3701463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C</a:t>
            </a:r>
            <a:r>
              <a:rPr lang="en-US" sz="1200" b="1" i="1" dirty="0" err="1"/>
              <a:t>ii</a:t>
            </a:r>
            <a:endParaRPr lang="en-US" sz="1200" b="1" i="1" dirty="0"/>
          </a:p>
        </p:txBody>
      </p:sp>
      <p:sp>
        <p:nvSpPr>
          <p:cNvPr id="174" name="TextBox 173"/>
          <p:cNvSpPr txBox="1"/>
          <p:nvPr/>
        </p:nvSpPr>
        <p:spPr>
          <a:xfrm>
            <a:off x="4624200" y="3701463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D</a:t>
            </a:r>
            <a:r>
              <a:rPr lang="en-US" sz="1200" b="1" i="1" dirty="0" err="1"/>
              <a:t>ii</a:t>
            </a:r>
            <a:endParaRPr lang="en-US" sz="1200" b="1" i="1" dirty="0"/>
          </a:p>
        </p:txBody>
      </p:sp>
      <p:sp>
        <p:nvSpPr>
          <p:cNvPr id="177" name="TextBox 176"/>
          <p:cNvSpPr txBox="1"/>
          <p:nvPr/>
        </p:nvSpPr>
        <p:spPr>
          <a:xfrm>
            <a:off x="281400" y="6299895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A</a:t>
            </a:r>
            <a:r>
              <a:rPr lang="en-US" sz="1200" b="1" i="1" dirty="0" err="1"/>
              <a:t>iii</a:t>
            </a:r>
            <a:endParaRPr lang="en-US" sz="1200" b="1" i="1" dirty="0"/>
          </a:p>
        </p:txBody>
      </p:sp>
      <p:sp>
        <p:nvSpPr>
          <p:cNvPr id="181" name="TextBox 180"/>
          <p:cNvSpPr txBox="1"/>
          <p:nvPr/>
        </p:nvSpPr>
        <p:spPr>
          <a:xfrm>
            <a:off x="1861286" y="6299895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B</a:t>
            </a:r>
            <a:r>
              <a:rPr lang="en-US" sz="1200" b="1" i="1" dirty="0" err="1"/>
              <a:t>iii</a:t>
            </a:r>
            <a:endParaRPr lang="en-US" sz="1200" b="1" i="1" dirty="0"/>
          </a:p>
        </p:txBody>
      </p:sp>
      <p:sp>
        <p:nvSpPr>
          <p:cNvPr id="182" name="TextBox 181"/>
          <p:cNvSpPr txBox="1"/>
          <p:nvPr/>
        </p:nvSpPr>
        <p:spPr>
          <a:xfrm>
            <a:off x="3242743" y="6299895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C</a:t>
            </a:r>
            <a:r>
              <a:rPr lang="en-US" sz="1200" b="1" i="1" dirty="0" err="1"/>
              <a:t>iii</a:t>
            </a:r>
            <a:endParaRPr lang="en-US" sz="1200" b="1" i="1" dirty="0"/>
          </a:p>
        </p:txBody>
      </p:sp>
      <p:sp>
        <p:nvSpPr>
          <p:cNvPr id="183" name="TextBox 182"/>
          <p:cNvSpPr txBox="1"/>
          <p:nvPr/>
        </p:nvSpPr>
        <p:spPr>
          <a:xfrm>
            <a:off x="4624200" y="6299895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D</a:t>
            </a:r>
            <a:r>
              <a:rPr lang="en-US" sz="1200" b="1" i="1" dirty="0" err="1"/>
              <a:t>iii</a:t>
            </a:r>
            <a:endParaRPr lang="en-US" sz="1200" b="1" i="1" dirty="0"/>
          </a:p>
        </p:txBody>
      </p:sp>
    </p:spTree>
    <p:extLst>
      <p:ext uri="{BB962C8B-B14F-4D97-AF65-F5344CB8AC3E}">
        <p14:creationId xmlns:p14="http://schemas.microsoft.com/office/powerpoint/2010/main" val="217990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212</Words>
  <Application>Microsoft Office PowerPoint</Application>
  <PresentationFormat>Letter Paper (8.5x11 in)</PresentationFormat>
  <Paragraphs>102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SPW 12.0 Graph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Akira Sakurai</dc:creator>
  <cp:lastModifiedBy>Akira Sakurai</cp:lastModifiedBy>
  <cp:revision>2</cp:revision>
  <dcterms:created xsi:type="dcterms:W3CDTF">2026-01-16T23:10:51Z</dcterms:created>
  <dcterms:modified xsi:type="dcterms:W3CDTF">2026-01-16T23:13:34Z</dcterms:modified>
</cp:coreProperties>
</file>